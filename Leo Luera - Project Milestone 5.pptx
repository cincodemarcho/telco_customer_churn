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.xml" ContentType="application/vnd.openxmlformats-officedocument.presentationml.tags+xml"/>
  <Override PartName="/ppt/notesSlides/notesSlide10.xml" ContentType="application/vnd.openxmlformats-officedocument.presentationml.notesSlide+xml"/>
  <Override PartName="/ppt/tags/tag2.xml" ContentType="application/vnd.openxmlformats-officedocument.presentationml.tags+xml"/>
  <Override PartName="/ppt/notesSlides/notesSlide11.xml" ContentType="application/vnd.openxmlformats-officedocument.presentationml.notesSlide+xml"/>
  <Override PartName="/ppt/tags/tag3.xml" ContentType="application/vnd.openxmlformats-officedocument.presentationml.tags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  <p:sldMasterId id="2147483708" r:id="rId2"/>
  </p:sldMasterIdLst>
  <p:notesMasterIdLst>
    <p:notesMasterId r:id="rId15"/>
  </p:notesMasterIdLst>
  <p:sldIdLst>
    <p:sldId id="256" r:id="rId3"/>
    <p:sldId id="257" r:id="rId4"/>
    <p:sldId id="259" r:id="rId5"/>
    <p:sldId id="266" r:id="rId6"/>
    <p:sldId id="271" r:id="rId7"/>
    <p:sldId id="263" r:id="rId8"/>
    <p:sldId id="272" r:id="rId9"/>
    <p:sldId id="273" r:id="rId10"/>
    <p:sldId id="274" r:id="rId11"/>
    <p:sldId id="275" r:id="rId12"/>
    <p:sldId id="277" r:id="rId13"/>
    <p:sldId id="27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99BA5"/>
    <a:srgbClr val="94BC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13"/>
    <p:restoredTop sz="87893"/>
  </p:normalViewPr>
  <p:slideViewPr>
    <p:cSldViewPr snapToGrid="0">
      <p:cViewPr varScale="1">
        <p:scale>
          <a:sx n="155" d="100"/>
          <a:sy n="155" d="100"/>
        </p:scale>
        <p:origin x="208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73EF38-6701-47AF-9414-481F6FA47583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C0A6E8D-3511-45C9-B922-01FC8AE9A07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Number Encoding​</a:t>
          </a:r>
        </a:p>
      </dgm:t>
    </dgm:pt>
    <dgm:pt modelId="{271F9FEC-2E1E-4696-BE33-4CDF2A9A32BA}" type="parTrans" cxnId="{4FC4E7E6-FB15-40BE-A851-32FC5F591386}">
      <dgm:prSet/>
      <dgm:spPr/>
      <dgm:t>
        <a:bodyPr/>
        <a:lstStyle/>
        <a:p>
          <a:endParaRPr lang="en-US"/>
        </a:p>
      </dgm:t>
    </dgm:pt>
    <dgm:pt modelId="{71D1BE21-7CEB-4BAF-83AD-AFAC97B91A39}" type="sibTrans" cxnId="{4FC4E7E6-FB15-40BE-A851-32FC5F591386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0D799DD6-E505-47FB-A3F9-AA397329EB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Encoded the Churn Label target variable into a new, binary variable for modeling.</a:t>
          </a:r>
        </a:p>
      </dgm:t>
    </dgm:pt>
    <dgm:pt modelId="{DF00D993-58D6-4878-B30A-71CC287D9D70}" type="parTrans" cxnId="{6CC6FF0A-ACCE-4D63-A5FF-868030F01782}">
      <dgm:prSet/>
      <dgm:spPr/>
      <dgm:t>
        <a:bodyPr/>
        <a:lstStyle/>
        <a:p>
          <a:endParaRPr lang="en-US"/>
        </a:p>
      </dgm:t>
    </dgm:pt>
    <dgm:pt modelId="{78698DB6-D394-4E68-BE7F-B62B43000791}" type="sibTrans" cxnId="{6CC6FF0A-ACCE-4D63-A5FF-868030F01782}">
      <dgm:prSet/>
      <dgm:spPr/>
      <dgm:t>
        <a:bodyPr/>
        <a:lstStyle/>
        <a:p>
          <a:endParaRPr lang="en-US"/>
        </a:p>
      </dgm:t>
    </dgm:pt>
    <dgm:pt modelId="{9D2615F8-8EFF-4F67-9FA0-64CA479D78C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Dropped Columns</a:t>
          </a:r>
        </a:p>
      </dgm:t>
    </dgm:pt>
    <dgm:pt modelId="{1E47870E-A945-4B06-9A2D-3217C04B2DC1}" type="parTrans" cxnId="{AFD9A727-A9E9-4422-A1A8-5D793798E94C}">
      <dgm:prSet/>
      <dgm:spPr/>
      <dgm:t>
        <a:bodyPr/>
        <a:lstStyle/>
        <a:p>
          <a:endParaRPr lang="en-US"/>
        </a:p>
      </dgm:t>
    </dgm:pt>
    <dgm:pt modelId="{34CE6006-1B6F-478B-BF56-9BEE291B5181}" type="sibTrans" cxnId="{AFD9A727-A9E9-4422-A1A8-5D793798E94C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A61A8403-CF0A-462C-AEE2-3059E92F30BF}">
      <dgm:prSet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dirty="0"/>
            <a:t>Removed unnecessary columns for modeling:</a:t>
          </a:r>
        </a:p>
        <a:p>
          <a:pPr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dirty="0"/>
            <a:t>- </a:t>
          </a:r>
          <a:r>
            <a:rPr lang="en-US" dirty="0" err="1"/>
            <a:t>CustomerID</a:t>
          </a:r>
          <a:endParaRPr lang="en-US" dirty="0"/>
        </a:p>
        <a:p>
          <a:pPr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dirty="0"/>
            <a:t>- Count</a:t>
          </a:r>
        </a:p>
        <a:p>
          <a:pPr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dirty="0"/>
            <a:t>- Churn Label</a:t>
          </a:r>
        </a:p>
        <a:p>
          <a:pPr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dirty="0"/>
            <a:t>- Churn Score</a:t>
          </a:r>
        </a:p>
        <a:p>
          <a:pPr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dirty="0"/>
            <a:t>- CLTV</a:t>
          </a:r>
        </a:p>
        <a:p>
          <a:pPr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dirty="0"/>
            <a:t>- Churn Reason</a:t>
          </a:r>
        </a:p>
      </dgm:t>
    </dgm:pt>
    <dgm:pt modelId="{42BB3B92-D03E-4864-828E-CCE990890D4F}" type="parTrans" cxnId="{E421A665-1F4A-4E02-AAF8-643CAB2CAAA4}">
      <dgm:prSet/>
      <dgm:spPr/>
      <dgm:t>
        <a:bodyPr/>
        <a:lstStyle/>
        <a:p>
          <a:endParaRPr lang="en-US"/>
        </a:p>
      </dgm:t>
    </dgm:pt>
    <dgm:pt modelId="{4CDA7B5A-4740-4F9E-A01F-B4E7B4D682F8}" type="sibTrans" cxnId="{E421A665-1F4A-4E02-AAF8-643CAB2CAAA4}">
      <dgm:prSet/>
      <dgm:spPr/>
      <dgm:t>
        <a:bodyPr/>
        <a:lstStyle/>
        <a:p>
          <a:endParaRPr lang="en-US"/>
        </a:p>
      </dgm:t>
    </dgm:pt>
    <dgm:pt modelId="{2F1636EA-0481-401D-B888-8495E36DF03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Convert to Numeric</a:t>
          </a:r>
        </a:p>
      </dgm:t>
    </dgm:pt>
    <dgm:pt modelId="{54A91060-42EF-4209-8DEB-25837C99F3F6}" type="parTrans" cxnId="{4A496C46-A930-474F-9D6A-6AE617A8D3A8}">
      <dgm:prSet/>
      <dgm:spPr/>
      <dgm:t>
        <a:bodyPr/>
        <a:lstStyle/>
        <a:p>
          <a:endParaRPr lang="en-US"/>
        </a:p>
      </dgm:t>
    </dgm:pt>
    <dgm:pt modelId="{B4D3DA4E-12D6-4EEE-ADA6-CFCABC20C2AC}" type="sibTrans" cxnId="{4A496C46-A930-474F-9D6A-6AE617A8D3A8}">
      <dgm:prSet/>
      <dgm:spPr/>
      <dgm:t>
        <a:bodyPr/>
        <a:lstStyle/>
        <a:p>
          <a:endParaRPr lang="en-US"/>
        </a:p>
      </dgm:t>
    </dgm:pt>
    <dgm:pt modelId="{E66A2C3B-0DA8-4963-B327-C975443460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Ensured Total Charges column was numeric.</a:t>
          </a:r>
        </a:p>
      </dgm:t>
    </dgm:pt>
    <dgm:pt modelId="{C9548000-28DB-424C-93F0-518D845BA606}" type="parTrans" cxnId="{00E480AB-D9A6-46E2-AE02-49B2232E5757}">
      <dgm:prSet/>
      <dgm:spPr/>
      <dgm:t>
        <a:bodyPr/>
        <a:lstStyle/>
        <a:p>
          <a:endParaRPr lang="en-US"/>
        </a:p>
      </dgm:t>
    </dgm:pt>
    <dgm:pt modelId="{BC2AE575-001E-41D1-BBAB-D1FB193A2E4B}" type="sibTrans" cxnId="{00E480AB-D9A6-46E2-AE02-49B2232E5757}">
      <dgm:prSet/>
      <dgm:spPr/>
      <dgm:t>
        <a:bodyPr/>
        <a:lstStyle/>
        <a:p>
          <a:endParaRPr lang="en-US"/>
        </a:p>
      </dgm:t>
    </dgm:pt>
    <dgm:pt modelId="{D4DA91D8-0F14-1346-A408-B661C1CD3EC1}" type="pres">
      <dgm:prSet presAssocID="{BB73EF38-6701-47AF-9414-481F6FA47583}" presName="Name0" presStyleCnt="0">
        <dgm:presLayoutVars>
          <dgm:dir/>
          <dgm:resizeHandles val="exact"/>
        </dgm:presLayoutVars>
      </dgm:prSet>
      <dgm:spPr/>
    </dgm:pt>
    <dgm:pt modelId="{2E8C3FF0-D673-3F41-989A-A4C68C5552E3}" type="pres">
      <dgm:prSet presAssocID="{3C0A6E8D-3511-45C9-B922-01FC8AE9A075}" presName="compNode" presStyleCnt="0"/>
      <dgm:spPr/>
    </dgm:pt>
    <dgm:pt modelId="{385C027C-1FB6-D442-859C-74EDC8571F7F}" type="pres">
      <dgm:prSet presAssocID="{3C0A6E8D-3511-45C9-B922-01FC8AE9A075}" presName="pictRect" presStyleLbl="revTx" presStyleIdx="0" presStyleCnt="6">
        <dgm:presLayoutVars>
          <dgm:chMax val="0"/>
          <dgm:bulletEnabled/>
        </dgm:presLayoutVars>
      </dgm:prSet>
      <dgm:spPr/>
    </dgm:pt>
    <dgm:pt modelId="{C68E88C2-1246-5B4C-BEB5-41986F702778}" type="pres">
      <dgm:prSet presAssocID="{3C0A6E8D-3511-45C9-B922-01FC8AE9A075}" presName="textRect" presStyleLbl="revTx" presStyleIdx="1" presStyleCnt="6">
        <dgm:presLayoutVars>
          <dgm:bulletEnabled/>
        </dgm:presLayoutVars>
      </dgm:prSet>
      <dgm:spPr/>
    </dgm:pt>
    <dgm:pt modelId="{513E963D-52BD-D44A-B8A0-59EDCEADC748}" type="pres">
      <dgm:prSet presAssocID="{71D1BE21-7CEB-4BAF-83AD-AFAC97B91A39}" presName="sibTrans" presStyleLbl="sibTrans2D1" presStyleIdx="0" presStyleCnt="0"/>
      <dgm:spPr/>
    </dgm:pt>
    <dgm:pt modelId="{ADF26EC1-5DED-4943-96B1-87D730DD750D}" type="pres">
      <dgm:prSet presAssocID="{9D2615F8-8EFF-4F67-9FA0-64CA479D78C5}" presName="compNode" presStyleCnt="0"/>
      <dgm:spPr/>
    </dgm:pt>
    <dgm:pt modelId="{D8AD4A17-62F0-CF4B-B12D-CB49BB4CB568}" type="pres">
      <dgm:prSet presAssocID="{9D2615F8-8EFF-4F67-9FA0-64CA479D78C5}" presName="pictRect" presStyleLbl="revTx" presStyleIdx="2" presStyleCnt="6">
        <dgm:presLayoutVars>
          <dgm:chMax val="0"/>
          <dgm:bulletEnabled/>
        </dgm:presLayoutVars>
      </dgm:prSet>
      <dgm:spPr/>
    </dgm:pt>
    <dgm:pt modelId="{CB3D6855-6072-C34E-8BDF-1BD762F86B80}" type="pres">
      <dgm:prSet presAssocID="{9D2615F8-8EFF-4F67-9FA0-64CA479D78C5}" presName="textRect" presStyleLbl="revTx" presStyleIdx="3" presStyleCnt="6">
        <dgm:presLayoutVars>
          <dgm:bulletEnabled/>
        </dgm:presLayoutVars>
      </dgm:prSet>
      <dgm:spPr/>
    </dgm:pt>
    <dgm:pt modelId="{7B653695-7D07-B24C-B866-3695E88F6761}" type="pres">
      <dgm:prSet presAssocID="{34CE6006-1B6F-478B-BF56-9BEE291B5181}" presName="sibTrans" presStyleLbl="sibTrans2D1" presStyleIdx="0" presStyleCnt="0"/>
      <dgm:spPr/>
    </dgm:pt>
    <dgm:pt modelId="{5B2DDABB-CC3A-DF4A-9F7F-04AFA616F2EF}" type="pres">
      <dgm:prSet presAssocID="{2F1636EA-0481-401D-B888-8495E36DF033}" presName="compNode" presStyleCnt="0"/>
      <dgm:spPr/>
    </dgm:pt>
    <dgm:pt modelId="{43A3DB72-5784-FD47-99D4-32E7F206D944}" type="pres">
      <dgm:prSet presAssocID="{2F1636EA-0481-401D-B888-8495E36DF033}" presName="pictRect" presStyleLbl="revTx" presStyleIdx="4" presStyleCnt="6">
        <dgm:presLayoutVars>
          <dgm:chMax val="0"/>
          <dgm:bulletEnabled/>
        </dgm:presLayoutVars>
      </dgm:prSet>
      <dgm:spPr/>
    </dgm:pt>
    <dgm:pt modelId="{B8ADE18C-F122-674C-AAB3-4E3862FA2AD0}" type="pres">
      <dgm:prSet presAssocID="{2F1636EA-0481-401D-B888-8495E36DF033}" presName="textRect" presStyleLbl="revTx" presStyleIdx="5" presStyleCnt="6">
        <dgm:presLayoutVars>
          <dgm:bulletEnabled/>
        </dgm:presLayoutVars>
      </dgm:prSet>
      <dgm:spPr/>
    </dgm:pt>
  </dgm:ptLst>
  <dgm:cxnLst>
    <dgm:cxn modelId="{6CC6FF0A-ACCE-4D63-A5FF-868030F01782}" srcId="{3C0A6E8D-3511-45C9-B922-01FC8AE9A075}" destId="{0D799DD6-E505-47FB-A3F9-AA397329EBE0}" srcOrd="0" destOrd="0" parTransId="{DF00D993-58D6-4878-B30A-71CC287D9D70}" sibTransId="{78698DB6-D394-4E68-BE7F-B62B43000791}"/>
    <dgm:cxn modelId="{AFD9A727-A9E9-4422-A1A8-5D793798E94C}" srcId="{BB73EF38-6701-47AF-9414-481F6FA47583}" destId="{9D2615F8-8EFF-4F67-9FA0-64CA479D78C5}" srcOrd="1" destOrd="0" parTransId="{1E47870E-A945-4B06-9A2D-3217C04B2DC1}" sibTransId="{34CE6006-1B6F-478B-BF56-9BEE291B5181}"/>
    <dgm:cxn modelId="{6785DB33-5994-9C40-B790-AABBD70AACAF}" type="presOf" srcId="{A61A8403-CF0A-462C-AEE2-3059E92F30BF}" destId="{CB3D6855-6072-C34E-8BDF-1BD762F86B80}" srcOrd="0" destOrd="0" presId="urn:microsoft.com/office/officeart/2024/3/layout/hArchList1"/>
    <dgm:cxn modelId="{B57BB437-F025-0B4D-8696-D57B84BBAC0B}" type="presOf" srcId="{E66A2C3B-0DA8-4963-B327-C9754434609F}" destId="{B8ADE18C-F122-674C-AAB3-4E3862FA2AD0}" srcOrd="0" destOrd="0" presId="urn:microsoft.com/office/officeart/2024/3/layout/hArchList1"/>
    <dgm:cxn modelId="{4A496C46-A930-474F-9D6A-6AE617A8D3A8}" srcId="{BB73EF38-6701-47AF-9414-481F6FA47583}" destId="{2F1636EA-0481-401D-B888-8495E36DF033}" srcOrd="2" destOrd="0" parTransId="{54A91060-42EF-4209-8DEB-25837C99F3F6}" sibTransId="{B4D3DA4E-12D6-4EEE-ADA6-CFCABC20C2AC}"/>
    <dgm:cxn modelId="{31CBA74F-0433-A242-852C-ADFEF23DC406}" type="presOf" srcId="{BB73EF38-6701-47AF-9414-481F6FA47583}" destId="{D4DA91D8-0F14-1346-A408-B661C1CD3EC1}" srcOrd="0" destOrd="0" presId="urn:microsoft.com/office/officeart/2024/3/layout/hArchList1"/>
    <dgm:cxn modelId="{2238625C-B9B6-3042-B19A-C23EBF3DF10B}" type="presOf" srcId="{9D2615F8-8EFF-4F67-9FA0-64CA479D78C5}" destId="{D8AD4A17-62F0-CF4B-B12D-CB49BB4CB568}" srcOrd="0" destOrd="0" presId="urn:microsoft.com/office/officeart/2024/3/layout/hArchList1"/>
    <dgm:cxn modelId="{060E515F-F6F8-4943-ADF4-F31EF248768B}" type="presOf" srcId="{71D1BE21-7CEB-4BAF-83AD-AFAC97B91A39}" destId="{513E963D-52BD-D44A-B8A0-59EDCEADC748}" srcOrd="0" destOrd="0" presId="urn:microsoft.com/office/officeart/2024/3/layout/hArchList1"/>
    <dgm:cxn modelId="{E421A665-1F4A-4E02-AAF8-643CAB2CAAA4}" srcId="{9D2615F8-8EFF-4F67-9FA0-64CA479D78C5}" destId="{A61A8403-CF0A-462C-AEE2-3059E92F30BF}" srcOrd="0" destOrd="0" parTransId="{42BB3B92-D03E-4864-828E-CCE990890D4F}" sibTransId="{4CDA7B5A-4740-4F9E-A01F-B4E7B4D682F8}"/>
    <dgm:cxn modelId="{5FED0766-E2D3-1544-9A56-28AD5017200A}" type="presOf" srcId="{0D799DD6-E505-47FB-A3F9-AA397329EBE0}" destId="{C68E88C2-1246-5B4C-BEB5-41986F702778}" srcOrd="0" destOrd="0" presId="urn:microsoft.com/office/officeart/2024/3/layout/hArchList1"/>
    <dgm:cxn modelId="{0031F471-EFC3-4A4F-AC94-ED620EC6CF45}" type="presOf" srcId="{34CE6006-1B6F-478B-BF56-9BEE291B5181}" destId="{7B653695-7D07-B24C-B866-3695E88F6761}" srcOrd="0" destOrd="0" presId="urn:microsoft.com/office/officeart/2024/3/layout/hArchList1"/>
    <dgm:cxn modelId="{00E480AB-D9A6-46E2-AE02-49B2232E5757}" srcId="{2F1636EA-0481-401D-B888-8495E36DF033}" destId="{E66A2C3B-0DA8-4963-B327-C9754434609F}" srcOrd="0" destOrd="0" parTransId="{C9548000-28DB-424C-93F0-518D845BA606}" sibTransId="{BC2AE575-001E-41D1-BBAB-D1FB193A2E4B}"/>
    <dgm:cxn modelId="{4FC4E7E6-FB15-40BE-A851-32FC5F591386}" srcId="{BB73EF38-6701-47AF-9414-481F6FA47583}" destId="{3C0A6E8D-3511-45C9-B922-01FC8AE9A075}" srcOrd="0" destOrd="0" parTransId="{271F9FEC-2E1E-4696-BE33-4CDF2A9A32BA}" sibTransId="{71D1BE21-7CEB-4BAF-83AD-AFAC97B91A39}"/>
    <dgm:cxn modelId="{B0BFFEE9-91AA-C446-99AA-91606B71F0D0}" type="presOf" srcId="{3C0A6E8D-3511-45C9-B922-01FC8AE9A075}" destId="{385C027C-1FB6-D442-859C-74EDC8571F7F}" srcOrd="0" destOrd="0" presId="urn:microsoft.com/office/officeart/2024/3/layout/hArchList1"/>
    <dgm:cxn modelId="{E0B467F5-9277-8341-90F4-BDB740A6140F}" type="presOf" srcId="{2F1636EA-0481-401D-B888-8495E36DF033}" destId="{43A3DB72-5784-FD47-99D4-32E7F206D944}" srcOrd="0" destOrd="0" presId="urn:microsoft.com/office/officeart/2024/3/layout/hArchList1"/>
    <dgm:cxn modelId="{42859D22-B105-174D-B84C-FEBFE81F16C0}" type="presParOf" srcId="{D4DA91D8-0F14-1346-A408-B661C1CD3EC1}" destId="{2E8C3FF0-D673-3F41-989A-A4C68C5552E3}" srcOrd="0" destOrd="0" presId="urn:microsoft.com/office/officeart/2024/3/layout/hArchList1"/>
    <dgm:cxn modelId="{F8B9BB2D-739C-774C-A722-2729247BACD7}" type="presParOf" srcId="{2E8C3FF0-D673-3F41-989A-A4C68C5552E3}" destId="{385C027C-1FB6-D442-859C-74EDC8571F7F}" srcOrd="0" destOrd="0" presId="urn:microsoft.com/office/officeart/2024/3/layout/hArchList1"/>
    <dgm:cxn modelId="{A58FFE16-5D6B-A747-9C2D-51C05113BB14}" type="presParOf" srcId="{2E8C3FF0-D673-3F41-989A-A4C68C5552E3}" destId="{C68E88C2-1246-5B4C-BEB5-41986F702778}" srcOrd="1" destOrd="0" presId="urn:microsoft.com/office/officeart/2024/3/layout/hArchList1"/>
    <dgm:cxn modelId="{C738E1D5-7BC3-6848-8287-2E0F7ADC5B8F}" type="presParOf" srcId="{D4DA91D8-0F14-1346-A408-B661C1CD3EC1}" destId="{513E963D-52BD-D44A-B8A0-59EDCEADC748}" srcOrd="1" destOrd="0" presId="urn:microsoft.com/office/officeart/2024/3/layout/hArchList1"/>
    <dgm:cxn modelId="{E6E1C61B-34D2-8F4E-89F8-97EE1C2675CA}" type="presParOf" srcId="{D4DA91D8-0F14-1346-A408-B661C1CD3EC1}" destId="{ADF26EC1-5DED-4943-96B1-87D730DD750D}" srcOrd="2" destOrd="0" presId="urn:microsoft.com/office/officeart/2024/3/layout/hArchList1"/>
    <dgm:cxn modelId="{F92B3AE5-349D-F348-A0BB-08BAAAAD878C}" type="presParOf" srcId="{ADF26EC1-5DED-4943-96B1-87D730DD750D}" destId="{D8AD4A17-62F0-CF4B-B12D-CB49BB4CB568}" srcOrd="0" destOrd="0" presId="urn:microsoft.com/office/officeart/2024/3/layout/hArchList1"/>
    <dgm:cxn modelId="{960D56BB-FF6C-2B4E-9D7D-BDE37E4854ED}" type="presParOf" srcId="{ADF26EC1-5DED-4943-96B1-87D730DD750D}" destId="{CB3D6855-6072-C34E-8BDF-1BD762F86B80}" srcOrd="1" destOrd="0" presId="urn:microsoft.com/office/officeart/2024/3/layout/hArchList1"/>
    <dgm:cxn modelId="{9DC945C1-A27B-8F47-884E-750A823CA690}" type="presParOf" srcId="{D4DA91D8-0F14-1346-A408-B661C1CD3EC1}" destId="{7B653695-7D07-B24C-B866-3695E88F6761}" srcOrd="3" destOrd="0" presId="urn:microsoft.com/office/officeart/2024/3/layout/hArchList1"/>
    <dgm:cxn modelId="{1F88E343-3375-424C-859C-5F6CE58B7B5A}" type="presParOf" srcId="{D4DA91D8-0F14-1346-A408-B661C1CD3EC1}" destId="{5B2DDABB-CC3A-DF4A-9F7F-04AFA616F2EF}" srcOrd="4" destOrd="0" presId="urn:microsoft.com/office/officeart/2024/3/layout/hArchList1"/>
    <dgm:cxn modelId="{21D745E5-84B1-F948-BB66-682276FD4931}" type="presParOf" srcId="{5B2DDABB-CC3A-DF4A-9F7F-04AFA616F2EF}" destId="{43A3DB72-5784-FD47-99D4-32E7F206D944}" srcOrd="0" destOrd="0" presId="urn:microsoft.com/office/officeart/2024/3/layout/hArchList1"/>
    <dgm:cxn modelId="{E5A06DC7-8CEE-984F-8A10-C8BFAD70DF71}" type="presParOf" srcId="{5B2DDABB-CC3A-DF4A-9F7F-04AFA616F2EF}" destId="{B8ADE18C-F122-674C-AAB3-4E3862FA2AD0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5C027C-1FB6-D442-859C-74EDC8571F7F}">
      <dsp:nvSpPr>
        <dsp:cNvPr id="0" name=""/>
        <dsp:cNvSpPr/>
      </dsp:nvSpPr>
      <dsp:spPr>
        <a:xfrm>
          <a:off x="0" y="0"/>
          <a:ext cx="2743597" cy="3132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/>
            <a:t>Number Encoding​</a:t>
          </a:r>
        </a:p>
      </dsp:txBody>
      <dsp:txXfrm>
        <a:off x="0" y="0"/>
        <a:ext cx="2743597" cy="313222"/>
      </dsp:txXfrm>
    </dsp:sp>
    <dsp:sp modelId="{C68E88C2-1246-5B4C-BEB5-41986F702778}">
      <dsp:nvSpPr>
        <dsp:cNvPr id="0" name=""/>
        <dsp:cNvSpPr/>
      </dsp:nvSpPr>
      <dsp:spPr>
        <a:xfrm>
          <a:off x="0" y="313222"/>
          <a:ext cx="2743597" cy="2490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Encoded the Churn Label target variable into a new, binary variable for modeling.</a:t>
          </a:r>
        </a:p>
      </dsp:txBody>
      <dsp:txXfrm>
        <a:off x="0" y="313222"/>
        <a:ext cx="2743597" cy="2490584"/>
      </dsp:txXfrm>
    </dsp:sp>
    <dsp:sp modelId="{D8AD4A17-62F0-CF4B-B12D-CB49BB4CB568}">
      <dsp:nvSpPr>
        <dsp:cNvPr id="0" name=""/>
        <dsp:cNvSpPr/>
      </dsp:nvSpPr>
      <dsp:spPr>
        <a:xfrm>
          <a:off x="3017957" y="0"/>
          <a:ext cx="2743597" cy="3132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/>
            <a:t>Dropped Columns</a:t>
          </a:r>
        </a:p>
      </dsp:txBody>
      <dsp:txXfrm>
        <a:off x="3017957" y="0"/>
        <a:ext cx="2743597" cy="313222"/>
      </dsp:txXfrm>
    </dsp:sp>
    <dsp:sp modelId="{CB3D6855-6072-C34E-8BDF-1BD762F86B80}">
      <dsp:nvSpPr>
        <dsp:cNvPr id="0" name=""/>
        <dsp:cNvSpPr/>
      </dsp:nvSpPr>
      <dsp:spPr>
        <a:xfrm>
          <a:off x="3017957" y="313222"/>
          <a:ext cx="2743597" cy="2490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Removed unnecessary columns for modeling: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 dirty="0"/>
            <a:t>- </a:t>
          </a:r>
          <a:r>
            <a:rPr lang="en-US" sz="1400" kern="1200" dirty="0" err="1"/>
            <a:t>CustomerID</a:t>
          </a: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 dirty="0"/>
            <a:t>- Count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 dirty="0"/>
            <a:t>- Churn Label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 dirty="0"/>
            <a:t>- Churn Score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 dirty="0"/>
            <a:t>- CLTV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 dirty="0"/>
            <a:t>- Churn Reason</a:t>
          </a:r>
        </a:p>
      </dsp:txBody>
      <dsp:txXfrm>
        <a:off x="3017957" y="313222"/>
        <a:ext cx="2743597" cy="2490584"/>
      </dsp:txXfrm>
    </dsp:sp>
    <dsp:sp modelId="{43A3DB72-5784-FD47-99D4-32E7F206D944}">
      <dsp:nvSpPr>
        <dsp:cNvPr id="0" name=""/>
        <dsp:cNvSpPr/>
      </dsp:nvSpPr>
      <dsp:spPr>
        <a:xfrm>
          <a:off x="6035914" y="0"/>
          <a:ext cx="2743597" cy="3132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/>
            <a:t>Convert to Numeric</a:t>
          </a:r>
        </a:p>
      </dsp:txBody>
      <dsp:txXfrm>
        <a:off x="6035914" y="0"/>
        <a:ext cx="2743597" cy="313222"/>
      </dsp:txXfrm>
    </dsp:sp>
    <dsp:sp modelId="{B8ADE18C-F122-674C-AAB3-4E3862FA2AD0}">
      <dsp:nvSpPr>
        <dsp:cNvPr id="0" name=""/>
        <dsp:cNvSpPr/>
      </dsp:nvSpPr>
      <dsp:spPr>
        <a:xfrm>
          <a:off x="6035914" y="313222"/>
          <a:ext cx="2743597" cy="2490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Ensured Total Charges column was numeric.</a:t>
          </a:r>
        </a:p>
      </dsp:txBody>
      <dsp:txXfrm>
        <a:off x="6035914" y="313222"/>
        <a:ext cx="2743597" cy="24905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3417D-B655-154D-9546-6EF133BC6BE8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A85B9E-68F4-E144-85BA-6A54BE892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218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85B9E-68F4-E144-85BA-6A54BE8929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737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85B9E-68F4-E144-85BA-6A54BE8929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3661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85B9E-68F4-E144-85BA-6A54BE8929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895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85B9E-68F4-E144-85BA-6A54BE8929A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456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85B9E-68F4-E144-85BA-6A54BE8929A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119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85B9E-68F4-E144-85BA-6A54BE8929A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275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85B9E-68F4-E144-85BA-6A54BE8929A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9458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85B9E-68F4-E144-85BA-6A54BE8929A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69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85B9E-68F4-E144-85BA-6A54BE8929A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7753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85B9E-68F4-E144-85BA-6A54BE8929A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30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85B9E-68F4-E144-85BA-6A54BE8929A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3391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85B9E-68F4-E144-85BA-6A54BE8929A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276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3/8/26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3/8/26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3/8/26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3/8/26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3/8/26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3/8/26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3/8/26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3/8/26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3/8/26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3/8/26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3/8/26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79119-51B8-2F53-A78E-7823DB09EB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08A3F2-6533-93B2-8718-D2A4DFB56B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BFC0D-698B-77D3-37BA-C4DBD0176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3EFB-AD98-7540-9E51-ED0267CC3A0A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A7A06-A2C3-15A2-3C70-680DCDA42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20D6B-64A4-2C56-E6BD-170F7F40E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9E1E9-1215-3E46-96A6-0483FFEF3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624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7A128-1708-0DC2-5A4D-35EE4B93E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78E7F-ED19-E06D-B97A-FC59C52A8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D972B-75FB-9C9A-DB35-70711DD9E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3EFB-AD98-7540-9E51-ED0267CC3A0A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9D839-847C-AA62-DC12-56A5A3348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50562-6406-411D-16A7-68B3C5D41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9E1E9-1215-3E46-96A6-0483FFEF3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4574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6A0D2-C6EB-DB58-2F0E-4A642B256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84149E-F0F5-A693-BCAF-D273DCA52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DE1B9-874B-9DD2-DE7D-1FB4822FC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3EFB-AD98-7540-9E51-ED0267CC3A0A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1CA9B-035A-DC18-2541-103A297F1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52CB0-60D1-B83B-4F0C-9C1248802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9E1E9-1215-3E46-96A6-0483FFEF3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1877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47AAF-D25E-F93F-D87D-069384131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9188D-4FC1-4E10-3750-2F4596266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D136A-D292-1D3E-3955-654147F04B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C9C3F0-8E5D-0B20-0979-FD4740B6D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3EFB-AD98-7540-9E51-ED0267CC3A0A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C94301-1439-3A3C-297D-3102D22F4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3A693F-08FF-ED10-DB31-C89F923FF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9E1E9-1215-3E46-96A6-0483FFEF3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3358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70D37-987F-CD2C-AFE7-E525ABDDD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8D94C-F4A2-0769-1887-5EAB6A55C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613B07-07A8-C1BB-4D6F-A5841FF30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8C1185-6D99-6F56-3B81-0FCF35C813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CAC548-1480-F923-C704-72C2A4EBDF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B3D597-D0FA-F4B5-A394-9E873869C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3EFB-AD98-7540-9E51-ED0267CC3A0A}" type="datetimeFigureOut">
              <a:rPr lang="en-US" smtClean="0"/>
              <a:t>3/8/26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229C6D-9716-D2AB-CC0B-0C80B4465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27BDC8-7478-A89F-1A30-FC97F934D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9E1E9-1215-3E46-96A6-0483FFEF3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2937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70BA0-139B-9235-26F4-CEA40737D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8D947F-F812-CE50-D8EF-B1FA80451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3EFB-AD98-7540-9E51-ED0267CC3A0A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45ED56-17E2-F5C2-CDEA-CF6E959C3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50AEAA-F6B1-652C-DA46-6797242A1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9E1E9-1215-3E46-96A6-0483FFEF3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764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D2128B-9781-68E3-6022-B240A1D6C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3EFB-AD98-7540-9E51-ED0267CC3A0A}" type="datetimeFigureOut">
              <a:rPr lang="en-US" smtClean="0"/>
              <a:t>3/8/26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8B2C0C-54BB-E6EB-0DCF-8D58959ED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0835AF-CACD-0B77-6597-0D0A39BC4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9E1E9-1215-3E46-96A6-0483FFEF3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7847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8FBD6-70ED-570F-89E8-D2DE8FA89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D0A5F-DD9F-E4AA-2C27-3AEDCDFB2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6DCDE5-B613-6251-56B3-9B9A88498D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FBB6FF-3426-0790-83F3-291D4B756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3EFB-AD98-7540-9E51-ED0267CC3A0A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F4D3CD-5FDE-5ACC-8F0C-E097E5A9D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65E1C-98F6-622B-5396-8968562B3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9E1E9-1215-3E46-96A6-0483FFEF3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2570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7B1D5-402D-EF14-A85C-E64935339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1446D9-89B9-4561-1384-AFC7068A7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18135E-845C-9927-58B6-1858C2E14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70315C-BDC6-E72F-A475-9D82947AE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3EFB-AD98-7540-9E51-ED0267CC3A0A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968C55-659C-CF33-F6A4-6EB33B97E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F4E6E5-D27F-07F7-E2CD-0BC1AB14B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9E1E9-1215-3E46-96A6-0483FFEF3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962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07AEE-ABBF-59A1-2899-CBBA664B2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46C2F2-087D-AE30-5CBB-52361EE4AB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D0B9F-00CD-8E47-D454-926758E27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3EFB-AD98-7540-9E51-ED0267CC3A0A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17E7E-F4E8-4C83-D829-1546698B8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E335E-3523-73FD-EA11-A08A587F6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9E1E9-1215-3E46-96A6-0483FFEF3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5072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ABB6BF-B494-5338-6AC7-609106C80B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B1FF64-99D7-8B29-FE02-AC7459C940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0C18C-F4CA-4390-870B-44A404BFC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3EFB-AD98-7540-9E51-ED0267CC3A0A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009DE-EFA7-9AD8-6FF5-B590FA874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BB8D5-130E-F830-5D66-5C9AB74D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9E1E9-1215-3E46-96A6-0483FFEF3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331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3/8/26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A01CB9-F626-84ED-0EB7-327D3BC23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FB3B32-29AF-6D70-4B13-4C12E04AB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2F3A1-3DEE-DB23-0EF8-9AAD7E1E8A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233EFB-AD98-7540-9E51-ED0267CC3A0A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7CF22-FD3B-C6DA-5EE8-9B5CB61F60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F1107-F46A-A950-357C-B1CE0E1549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09E1E9-1215-3E46-96A6-0483FFEF3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493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slideLayout" Target="../slideLayouts/slideLayout2.xml"/><Relationship Id="rId7" Type="http://schemas.openxmlformats.org/officeDocument/2006/relationships/diagramQuickStyle" Target="../diagrams/quickStyle1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1.png"/><Relationship Id="rId4" Type="http://schemas.openxmlformats.org/officeDocument/2006/relationships/notesSlide" Target="../notesSlides/notesSlide6.xml"/><Relationship Id="rId9" Type="http://schemas.microsoft.com/office/2007/relationships/diagramDrawing" Target="../diagrams/drawing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.png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.png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audio" Target="../media/media10.m4a"/><Relationship Id="rId7" Type="http://schemas.openxmlformats.org/officeDocument/2006/relationships/image" Target="../media/image9.png"/><Relationship Id="rId2" Type="http://schemas.microsoft.com/office/2007/relationships/media" Target="../media/media10.m4a"/><Relationship Id="rId1" Type="http://schemas.openxmlformats.org/officeDocument/2006/relationships/tags" Target="../tags/tag1.xml"/><Relationship Id="rId6" Type="http://schemas.openxmlformats.org/officeDocument/2006/relationships/image" Target="../media/image8.png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audio" Target="../media/media11.m4a"/><Relationship Id="rId7" Type="http://schemas.openxmlformats.org/officeDocument/2006/relationships/image" Target="../media/image11.png"/><Relationship Id="rId2" Type="http://schemas.microsoft.com/office/2007/relationships/media" Target="../media/media11.m4a"/><Relationship Id="rId1" Type="http://schemas.openxmlformats.org/officeDocument/2006/relationships/tags" Target="../tags/tag2.xml"/><Relationship Id="rId6" Type="http://schemas.openxmlformats.org/officeDocument/2006/relationships/image" Target="../media/image10.png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media12.m4a"/><Relationship Id="rId7" Type="http://schemas.openxmlformats.org/officeDocument/2006/relationships/image" Target="../media/image1.png"/><Relationship Id="rId2" Type="http://schemas.microsoft.com/office/2007/relationships/media" Target="../media/media12.m4a"/><Relationship Id="rId1" Type="http://schemas.openxmlformats.org/officeDocument/2006/relationships/tags" Target="../tags/tag3.xml"/><Relationship Id="rId6" Type="http://schemas.openxmlformats.org/officeDocument/2006/relationships/image" Target="../media/image12.png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CABDF-3DCF-9794-D9AE-D3A2669EDE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Identifying and improving telco customer churn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BE7E54-0A6D-03BE-C106-142943DF6D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Leo Luera</a:t>
            </a:r>
          </a:p>
          <a:p>
            <a:r>
              <a:rPr lang="en-US" dirty="0"/>
              <a:t>DSC 630 Predictive Analytics</a:t>
            </a:r>
          </a:p>
          <a:p>
            <a:r>
              <a:rPr lang="en-US" dirty="0"/>
              <a:t>March 8, 2026</a:t>
            </a:r>
          </a:p>
        </p:txBody>
      </p:sp>
      <p:pic>
        <p:nvPicPr>
          <p:cNvPr id="10" name="Audio 9">
            <a:extLst>
              <a:ext uri="{FF2B5EF4-FFF2-40B4-BE49-F238E27FC236}">
                <a16:creationId xmlns:a16="http://schemas.microsoft.com/office/drawing/2014/main" id="{87205511-0EC2-5A92-0901-239BE775465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8907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6192"/>
    </mc:Choice>
    <mc:Fallback>
      <p:transition spd="slow" advTm="361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71ADA9-66F5-A2AC-5B38-DFE3BF20B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28D38A-32BA-A5DB-0106-3478E45FC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67418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9CEB9-90CE-0D20-7DE8-A46CFD5E065A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1706062" y="2291262"/>
            <a:ext cx="8779512" cy="287925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04040"/>
                </a:solidFill>
              </a:rPr>
              <a:t>Introduction of the problem</a:t>
            </a:r>
            <a:endParaRPr dirty="0">
              <a:solidFill>
                <a:srgbClr val="40404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04040"/>
                </a:solidFill>
              </a:rPr>
              <a:t>Data overview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04040"/>
                </a:solidFill>
              </a:rPr>
              <a:t>Methods of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04040"/>
                </a:solidFill>
              </a:rPr>
              <a:t>Results and findings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04040"/>
                </a:solidFill>
              </a:rPr>
              <a:t>Conclusion</a:t>
            </a:r>
          </a:p>
        </p:txBody>
      </p:sp>
      <p:pic>
        <p:nvPicPr>
          <p:cNvPr id="9" name="Audio 8">
            <a:extLst>
              <a:ext uri="{FF2B5EF4-FFF2-40B4-BE49-F238E27FC236}">
                <a16:creationId xmlns:a16="http://schemas.microsoft.com/office/drawing/2014/main" id="{C5B354FC-8BF0-1841-741F-EECA95FC15B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4838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000"/>
    </mc:Choice>
    <mc:Fallback>
      <p:transition spd="slow" advTm="3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5EBBDF-7769-B676-F8F1-E881ABA69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67418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7A128-3D9F-401C-4086-68CF39ABBB11}"/>
              </a:ext>
            </a:extLst>
          </p:cNvPr>
          <p:cNvSpPr txBox="1"/>
          <p:nvPr/>
        </p:nvSpPr>
        <p:spPr>
          <a:xfrm>
            <a:off x="1532709" y="1991134"/>
            <a:ext cx="913529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subscription-based industries, customer churn poses a persistent challenge due to high competition, low switching costs, and growing value-added services.  </a:t>
            </a:r>
          </a:p>
          <a:p>
            <a:endParaRPr lang="en-US" dirty="0"/>
          </a:p>
          <a:p>
            <a:r>
              <a:rPr lang="en-US" dirty="0"/>
              <a:t>Predictive analytics provides an opportunity to anticipate churn behavior before it occurs, enabling organizations to take proactive steps to retain customers.  </a:t>
            </a:r>
          </a:p>
          <a:p>
            <a:endParaRPr lang="en-US" dirty="0"/>
          </a:p>
          <a:p>
            <a:r>
              <a:rPr lang="en-US" dirty="0"/>
              <a:t>Predicting human behavior is not a simple task, however this proposal outlines a predictive analytics project focused on customer churn using the IBM Telco Customer Churn dataset.  </a:t>
            </a:r>
          </a:p>
        </p:txBody>
      </p:sp>
      <p:pic>
        <p:nvPicPr>
          <p:cNvPr id="7" name="Audio 6">
            <a:extLst>
              <a:ext uri="{FF2B5EF4-FFF2-40B4-BE49-F238E27FC236}">
                <a16:creationId xmlns:a16="http://schemas.microsoft.com/office/drawing/2014/main" id="{ED6591B2-0FFD-622B-501C-748A4A4010D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8732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4272"/>
    </mc:Choice>
    <mc:Fallback>
      <p:transition spd="slow" advTm="5427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A7ADEE-EC3C-3963-9FB0-48CFFDFAD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826A5F-8B68-477D-1429-77B5C4F38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9E299-9F0F-2850-F252-CC076BD8AA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CB22CD-5ADC-985C-FC54-1AAA6FD018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A0EE8-2C00-B469-4BCA-D1AC0D606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67418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/>
              <a:t>Goal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1478A7-475D-446E-8D07-12302F56BD0C}"/>
              </a:ext>
            </a:extLst>
          </p:cNvPr>
          <p:cNvSpPr txBox="1"/>
          <p:nvPr/>
        </p:nvSpPr>
        <p:spPr>
          <a:xfrm>
            <a:off x="1532709" y="1991134"/>
            <a:ext cx="913529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effort seeks to demonstrate how predictive analytics can be translated into actionable business recommendations that support customer retention efforts.  </a:t>
            </a:r>
          </a:p>
          <a:p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Which customer, contract, and service attributes are most strongly associated with churn in this dataset? </a:t>
            </a:r>
            <a:br>
              <a:rPr lang="en-US" dirty="0"/>
            </a:b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How well can a classification model distinguish churners from non-churners, especially in terms of recall for churners? </a:t>
            </a:r>
            <a:br>
              <a:rPr lang="en-US" dirty="0"/>
            </a:b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How might the model’s insights inform concrete retention strategies?</a:t>
            </a:r>
          </a:p>
          <a:p>
            <a:endParaRPr lang="en-US" dirty="0"/>
          </a:p>
        </p:txBody>
      </p:sp>
      <p:pic>
        <p:nvPicPr>
          <p:cNvPr id="7" name="Audio 6">
            <a:extLst>
              <a:ext uri="{FF2B5EF4-FFF2-40B4-BE49-F238E27FC236}">
                <a16:creationId xmlns:a16="http://schemas.microsoft.com/office/drawing/2014/main" id="{FD37C9E1-16B2-9F6E-2A2A-078BB37FA85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4972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2080"/>
    </mc:Choice>
    <mc:Fallback>
      <p:transition spd="slow" advTm="6208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9BA5">
            <a:alpha val="75625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AA99B-2BEC-AA63-5DC7-BC09B1C6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04409"/>
            <a:ext cx="7729728" cy="1188720"/>
          </a:xfrm>
        </p:spPr>
        <p:txBody>
          <a:bodyPr/>
          <a:lstStyle/>
          <a:p>
            <a:r>
              <a:rPr lang="en-US" dirty="0"/>
              <a:t>Data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6D0D9B-EBA4-2019-B243-63573CBEDF21}"/>
              </a:ext>
            </a:extLst>
          </p:cNvPr>
          <p:cNvSpPr txBox="1"/>
          <p:nvPr/>
        </p:nvSpPr>
        <p:spPr>
          <a:xfrm>
            <a:off x="2108889" y="3405991"/>
            <a:ext cx="9135290" cy="3416320"/>
          </a:xfrm>
          <a:prstGeom prst="rect">
            <a:avLst/>
          </a:prstGeom>
          <a:noFill/>
        </p:spPr>
        <p:txBody>
          <a:bodyPr wrap="square" numCol="3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err="1"/>
              <a:t>CustomerID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County</a:t>
            </a:r>
          </a:p>
          <a:p>
            <a:pPr marL="342900" indent="-342900">
              <a:buAutoNum type="arabicPeriod"/>
            </a:pPr>
            <a:r>
              <a:rPr lang="en-US" dirty="0"/>
              <a:t>Country</a:t>
            </a:r>
          </a:p>
          <a:p>
            <a:pPr marL="342900" indent="-342900">
              <a:buAutoNum type="arabicPeriod"/>
            </a:pPr>
            <a:r>
              <a:rPr lang="en-US" dirty="0"/>
              <a:t>State</a:t>
            </a:r>
          </a:p>
          <a:p>
            <a:pPr marL="342900" indent="-342900">
              <a:buAutoNum type="arabicPeriod"/>
            </a:pPr>
            <a:r>
              <a:rPr lang="en-US" dirty="0"/>
              <a:t>City</a:t>
            </a:r>
          </a:p>
          <a:p>
            <a:pPr marL="342900" indent="-342900">
              <a:buAutoNum type="arabicPeriod"/>
            </a:pPr>
            <a:r>
              <a:rPr lang="en-US" dirty="0"/>
              <a:t>Zip Code</a:t>
            </a:r>
          </a:p>
          <a:p>
            <a:pPr marL="342900" indent="-342900">
              <a:buAutoNum type="arabicPeriod"/>
            </a:pPr>
            <a:r>
              <a:rPr lang="en-US" dirty="0"/>
              <a:t>Lat Long</a:t>
            </a:r>
          </a:p>
          <a:p>
            <a:pPr marL="342900" indent="-342900">
              <a:buAutoNum type="arabicPeriod"/>
            </a:pPr>
            <a:r>
              <a:rPr lang="en-US" dirty="0"/>
              <a:t>Latitude</a:t>
            </a:r>
          </a:p>
          <a:p>
            <a:pPr marL="342900" indent="-342900">
              <a:buAutoNum type="arabicPeriod"/>
            </a:pPr>
            <a:r>
              <a:rPr lang="en-US" dirty="0"/>
              <a:t>Longitude</a:t>
            </a:r>
          </a:p>
          <a:p>
            <a:pPr marL="342900" indent="-342900">
              <a:buAutoNum type="arabicPeriod"/>
            </a:pPr>
            <a:r>
              <a:rPr lang="en-US" dirty="0"/>
              <a:t>Gender</a:t>
            </a:r>
          </a:p>
          <a:p>
            <a:pPr marL="342900" indent="-342900">
              <a:buAutoNum type="arabicPeriod"/>
            </a:pPr>
            <a:r>
              <a:rPr lang="en-US" dirty="0"/>
              <a:t>Senior Citizen</a:t>
            </a:r>
          </a:p>
          <a:p>
            <a:pPr marL="342900" indent="-342900">
              <a:buAutoNum type="arabicPeriod"/>
            </a:pPr>
            <a:r>
              <a:rPr lang="en-US" dirty="0"/>
              <a:t>Partner</a:t>
            </a:r>
          </a:p>
          <a:p>
            <a:pPr marL="342900" indent="-342900">
              <a:buAutoNum type="arabicPeriod"/>
            </a:pPr>
            <a:r>
              <a:rPr lang="en-US" dirty="0"/>
              <a:t>Dependents</a:t>
            </a:r>
          </a:p>
          <a:p>
            <a:pPr marL="342900" indent="-342900">
              <a:buAutoNum type="arabicPeriod"/>
            </a:pPr>
            <a:r>
              <a:rPr lang="en-US" dirty="0"/>
              <a:t>Tenure Months</a:t>
            </a:r>
          </a:p>
          <a:p>
            <a:pPr marL="342900" indent="-342900">
              <a:buAutoNum type="arabicPeriod"/>
            </a:pPr>
            <a:r>
              <a:rPr lang="en-US" dirty="0"/>
              <a:t>Phone Service</a:t>
            </a:r>
          </a:p>
          <a:p>
            <a:pPr marL="342900" indent="-342900">
              <a:buAutoNum type="arabicPeriod"/>
            </a:pPr>
            <a:r>
              <a:rPr lang="en-US" dirty="0"/>
              <a:t>Multiple Lines</a:t>
            </a:r>
          </a:p>
          <a:p>
            <a:pPr marL="342900" indent="-342900">
              <a:buAutoNum type="arabicPeriod"/>
            </a:pPr>
            <a:r>
              <a:rPr lang="en-US" dirty="0"/>
              <a:t>Internet Service</a:t>
            </a:r>
          </a:p>
          <a:p>
            <a:pPr marL="342900" indent="-342900">
              <a:buAutoNum type="arabicPeriod"/>
            </a:pPr>
            <a:r>
              <a:rPr lang="en-US" dirty="0"/>
              <a:t>Online Security</a:t>
            </a:r>
          </a:p>
          <a:p>
            <a:pPr marL="342900" indent="-342900">
              <a:buAutoNum type="arabicPeriod"/>
            </a:pPr>
            <a:r>
              <a:rPr lang="en-US" dirty="0"/>
              <a:t>Online Backup</a:t>
            </a:r>
          </a:p>
          <a:p>
            <a:pPr marL="342900" indent="-342900">
              <a:buAutoNum type="arabicPeriod"/>
            </a:pPr>
            <a:r>
              <a:rPr lang="en-US" dirty="0"/>
              <a:t>Device Protection</a:t>
            </a:r>
          </a:p>
          <a:p>
            <a:pPr marL="342900" indent="-342900">
              <a:buAutoNum type="arabicPeriod"/>
            </a:pPr>
            <a:r>
              <a:rPr lang="en-US" dirty="0"/>
              <a:t>Tech Support</a:t>
            </a:r>
          </a:p>
          <a:p>
            <a:pPr marL="342900" indent="-342900">
              <a:buAutoNum type="arabicPeriod"/>
            </a:pPr>
            <a:r>
              <a:rPr lang="en-US" dirty="0"/>
              <a:t>Streaming TV</a:t>
            </a:r>
          </a:p>
          <a:p>
            <a:pPr marL="342900" indent="-342900">
              <a:buAutoNum type="arabicPeriod"/>
            </a:pPr>
            <a:r>
              <a:rPr lang="en-US" dirty="0"/>
              <a:t>Streaming Movies</a:t>
            </a:r>
          </a:p>
          <a:p>
            <a:pPr marL="342900" indent="-342900">
              <a:buAutoNum type="arabicPeriod"/>
            </a:pPr>
            <a:r>
              <a:rPr lang="en-US" dirty="0"/>
              <a:t>Contract</a:t>
            </a:r>
          </a:p>
          <a:p>
            <a:pPr marL="342900" indent="-342900">
              <a:buAutoNum type="arabicPeriod"/>
            </a:pPr>
            <a:r>
              <a:rPr lang="en-US" dirty="0"/>
              <a:t>Paperless Billing</a:t>
            </a:r>
          </a:p>
          <a:p>
            <a:pPr marL="342900" indent="-342900">
              <a:buAutoNum type="arabicPeriod"/>
            </a:pPr>
            <a:r>
              <a:rPr lang="en-US" dirty="0"/>
              <a:t>Payment Method</a:t>
            </a:r>
          </a:p>
          <a:p>
            <a:pPr marL="342900" indent="-342900">
              <a:buAutoNum type="arabicPeriod"/>
            </a:pPr>
            <a:r>
              <a:rPr lang="en-US" dirty="0"/>
              <a:t>Monthly Charges</a:t>
            </a:r>
          </a:p>
          <a:p>
            <a:pPr marL="342900" indent="-342900">
              <a:buAutoNum type="arabicPeriod"/>
            </a:pPr>
            <a:r>
              <a:rPr lang="en-US" dirty="0"/>
              <a:t>Total Charges</a:t>
            </a:r>
          </a:p>
          <a:p>
            <a:pPr marL="342900" indent="-342900">
              <a:buAutoNum type="arabicPeriod"/>
            </a:pPr>
            <a:r>
              <a:rPr lang="en-US" dirty="0"/>
              <a:t>Churn Label</a:t>
            </a:r>
          </a:p>
          <a:p>
            <a:pPr marL="342900" indent="-342900">
              <a:buAutoNum type="arabicPeriod"/>
            </a:pPr>
            <a:r>
              <a:rPr lang="en-US" dirty="0"/>
              <a:t>Churn Value</a:t>
            </a:r>
          </a:p>
          <a:p>
            <a:pPr marL="342900" indent="-342900">
              <a:buAutoNum type="arabicPeriod"/>
            </a:pPr>
            <a:r>
              <a:rPr lang="en-US" dirty="0"/>
              <a:t>Churn Score</a:t>
            </a:r>
          </a:p>
          <a:p>
            <a:pPr marL="342900" indent="-342900">
              <a:buAutoNum type="arabicPeriod"/>
            </a:pPr>
            <a:r>
              <a:rPr lang="en-US" dirty="0"/>
              <a:t>CLTV</a:t>
            </a:r>
          </a:p>
          <a:p>
            <a:pPr marL="342900" indent="-342900">
              <a:buAutoNum type="arabicPeriod"/>
            </a:pPr>
            <a:r>
              <a:rPr lang="en-US" dirty="0"/>
              <a:t>Churn Reason</a:t>
            </a:r>
          </a:p>
        </p:txBody>
      </p:sp>
      <p:pic>
        <p:nvPicPr>
          <p:cNvPr id="9" name="Picture 8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5C6B9E70-9D26-A2F5-9729-65242E63B9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347" y="1625016"/>
            <a:ext cx="9539306" cy="1601069"/>
          </a:xfrm>
          <a:prstGeom prst="rect">
            <a:avLst/>
          </a:prstGeom>
        </p:spPr>
      </p:pic>
      <p:pic>
        <p:nvPicPr>
          <p:cNvPr id="8" name="Audio 7">
            <a:extLst>
              <a:ext uri="{FF2B5EF4-FFF2-40B4-BE49-F238E27FC236}">
                <a16:creationId xmlns:a16="http://schemas.microsoft.com/office/drawing/2014/main" id="{B826D674-DF6A-11B9-DAD0-7E9B5A8E9DE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273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536"/>
    </mc:Choice>
    <mc:Fallback>
      <p:transition spd="slow" advTm="375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73FA9D-495B-7656-598A-E187D32A0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F684209-165C-FF8B-DF05-B78E9CA62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0B8E6F-EFDE-641E-D82A-AEFDCF7FA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A5F5F5-C595-4F89-F8BE-79EFE4891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BFA7E5-10BA-F1BB-9863-AA63C0DAC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67418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/>
              <a:t>Methods of analysis</a:t>
            </a:r>
            <a:br>
              <a:rPr lang="en-US" dirty="0"/>
            </a:br>
            <a:r>
              <a:rPr lang="en-US" dirty="0"/>
              <a:t>(Data Cleaning)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CBBF6515-A011-0A86-C5C9-929D544AB9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0346792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1706062" y="2291262"/>
          <a:ext cx="8779512" cy="2879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7" name="Audio 6">
            <a:extLst>
              <a:ext uri="{FF2B5EF4-FFF2-40B4-BE49-F238E27FC236}">
                <a16:creationId xmlns:a16="http://schemas.microsoft.com/office/drawing/2014/main" id="{690DEB12-752D-2AC5-B3C6-F57695F9283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8201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248"/>
    </mc:Choice>
    <mc:Fallback>
      <p:transition spd="slow" advTm="3324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9BA5">
            <a:alpha val="75625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C3D2E0-1964-CB90-4079-39E9E6D38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1DCE2-E25C-D404-5063-FC51D3F85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04409"/>
            <a:ext cx="7729728" cy="1188720"/>
          </a:xfrm>
        </p:spPr>
        <p:txBody>
          <a:bodyPr/>
          <a:lstStyle/>
          <a:p>
            <a:r>
              <a:rPr lang="en-US" dirty="0"/>
              <a:t>Methods of analysis</a:t>
            </a:r>
            <a:br>
              <a:rPr lang="en-US" dirty="0"/>
            </a:br>
            <a:r>
              <a:rPr lang="en-US" dirty="0"/>
              <a:t>(EDA)</a:t>
            </a:r>
          </a:p>
        </p:txBody>
      </p:sp>
      <p:pic>
        <p:nvPicPr>
          <p:cNvPr id="3" name="Picture 2" descr="A blue rectangular bars with white text&#10;&#10;AI-generated content may be incorrect.">
            <a:extLst>
              <a:ext uri="{FF2B5EF4-FFF2-40B4-BE49-F238E27FC236}">
                <a16:creationId xmlns:a16="http://schemas.microsoft.com/office/drawing/2014/main" id="{EEF40BA0-65C9-8C37-97E8-1F523CF0FA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937" y="1974322"/>
            <a:ext cx="5295900" cy="4140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 descr="A graph of blue and orange bars&#10;&#10;AI-generated content may be incorrect.">
            <a:extLst>
              <a:ext uri="{FF2B5EF4-FFF2-40B4-BE49-F238E27FC236}">
                <a16:creationId xmlns:a16="http://schemas.microsoft.com/office/drawing/2014/main" id="{3B891440-7456-2B61-218D-9D689336D6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8382" y="1720322"/>
            <a:ext cx="5295900" cy="46482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905BAC-5E51-A085-8D10-86F249D5189D}"/>
              </a:ext>
            </a:extLst>
          </p:cNvPr>
          <p:cNvSpPr txBox="1"/>
          <p:nvPr/>
        </p:nvSpPr>
        <p:spPr>
          <a:xfrm>
            <a:off x="1351008" y="5717060"/>
            <a:ext cx="1260388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Customer Stayed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CCF582-83CA-1870-E4CD-3FBC3753B3A2}"/>
              </a:ext>
            </a:extLst>
          </p:cNvPr>
          <p:cNvSpPr txBox="1"/>
          <p:nvPr/>
        </p:nvSpPr>
        <p:spPr>
          <a:xfrm>
            <a:off x="3744101" y="5717060"/>
            <a:ext cx="99265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Customer Left</a:t>
            </a:r>
          </a:p>
        </p:txBody>
      </p:sp>
      <p:pic>
        <p:nvPicPr>
          <p:cNvPr id="12" name="Audio 11">
            <a:extLst>
              <a:ext uri="{FF2B5EF4-FFF2-40B4-BE49-F238E27FC236}">
                <a16:creationId xmlns:a16="http://schemas.microsoft.com/office/drawing/2014/main" id="{96AA007C-ED5E-2545-3527-D3006DEB601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0563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5184"/>
    </mc:Choice>
    <mc:Fallback>
      <p:transition spd="slow" advTm="651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9BA5">
            <a:alpha val="75625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0E6F31-D815-7BE0-9845-B4DC5DF2A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E75FE-62BF-0CD8-740C-4F9962F0C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04409"/>
            <a:ext cx="7729728" cy="1188720"/>
          </a:xfrm>
        </p:spPr>
        <p:txBody>
          <a:bodyPr/>
          <a:lstStyle/>
          <a:p>
            <a:r>
              <a:rPr lang="en-US" dirty="0"/>
              <a:t>Methods of analysis</a:t>
            </a:r>
            <a:br>
              <a:rPr lang="en-US" dirty="0"/>
            </a:br>
            <a:r>
              <a:rPr lang="en-US" dirty="0"/>
              <a:t>(EDA)</a:t>
            </a:r>
          </a:p>
        </p:txBody>
      </p:sp>
      <p:pic>
        <p:nvPicPr>
          <p:cNvPr id="3" name="Picture 2" descr="A diagram of a chart&#10;&#10;AI-generated content may be incorrect.">
            <a:extLst>
              <a:ext uri="{FF2B5EF4-FFF2-40B4-BE49-F238E27FC236}">
                <a16:creationId xmlns:a16="http://schemas.microsoft.com/office/drawing/2014/main" id="{EA946771-C861-7C52-3415-1F9CF642B9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664" y="1994339"/>
            <a:ext cx="5143500" cy="4140200"/>
          </a:xfrm>
          <a:prstGeom prst="rect">
            <a:avLst/>
          </a:prstGeom>
        </p:spPr>
      </p:pic>
      <p:pic>
        <p:nvPicPr>
          <p:cNvPr id="4" name="Picture 3" descr="A chart of a monthly charge&#10;&#10;AI-generated content may be incorrect.">
            <a:extLst>
              <a:ext uri="{FF2B5EF4-FFF2-40B4-BE49-F238E27FC236}">
                <a16:creationId xmlns:a16="http://schemas.microsoft.com/office/drawing/2014/main" id="{59831B3D-8539-EDA2-084D-9A809665BA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392" y="1992280"/>
            <a:ext cx="5219700" cy="4140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34B16F-2734-C800-EEE6-6AD123D91239}"/>
              </a:ext>
            </a:extLst>
          </p:cNvPr>
          <p:cNvSpPr txBox="1"/>
          <p:nvPr/>
        </p:nvSpPr>
        <p:spPr>
          <a:xfrm>
            <a:off x="1383960" y="5717060"/>
            <a:ext cx="1260388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Customer Stayed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304E98-A772-826A-D505-BD9094167E4C}"/>
              </a:ext>
            </a:extLst>
          </p:cNvPr>
          <p:cNvSpPr txBox="1"/>
          <p:nvPr/>
        </p:nvSpPr>
        <p:spPr>
          <a:xfrm>
            <a:off x="3777053" y="5717060"/>
            <a:ext cx="99265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Customer Left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2E4050-0477-6429-87EF-88CDF7B8D999}"/>
              </a:ext>
            </a:extLst>
          </p:cNvPr>
          <p:cNvSpPr txBox="1"/>
          <p:nvPr/>
        </p:nvSpPr>
        <p:spPr>
          <a:xfrm>
            <a:off x="7677667" y="5725298"/>
            <a:ext cx="1260388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Customer Stayed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253290-8367-6987-07CE-CC5D0BA96FE2}"/>
              </a:ext>
            </a:extLst>
          </p:cNvPr>
          <p:cNvSpPr txBox="1"/>
          <p:nvPr/>
        </p:nvSpPr>
        <p:spPr>
          <a:xfrm>
            <a:off x="10070760" y="5725298"/>
            <a:ext cx="99265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Customer Left</a:t>
            </a:r>
          </a:p>
        </p:txBody>
      </p:sp>
      <p:pic>
        <p:nvPicPr>
          <p:cNvPr id="13" name="Audio 12">
            <a:extLst>
              <a:ext uri="{FF2B5EF4-FFF2-40B4-BE49-F238E27FC236}">
                <a16:creationId xmlns:a16="http://schemas.microsoft.com/office/drawing/2014/main" id="{5C7C1488-FE85-008B-5C60-7C307BDD94F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9833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9632"/>
    </mc:Choice>
    <mc:Fallback>
      <p:transition spd="slow" advTm="496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9BA5">
            <a:alpha val="75625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92BFB5-A3E6-1E68-AA1F-96D7D2088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27B8A-FDF0-97DA-DB09-1D8E7EAEB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04409"/>
            <a:ext cx="7729728" cy="1188720"/>
          </a:xfrm>
        </p:spPr>
        <p:txBody>
          <a:bodyPr/>
          <a:lstStyle/>
          <a:p>
            <a:r>
              <a:rPr lang="en-US" dirty="0"/>
              <a:t>Methods of analysis</a:t>
            </a:r>
            <a:br>
              <a:rPr lang="en-US" dirty="0"/>
            </a:br>
            <a:r>
              <a:rPr lang="en-US" dirty="0"/>
              <a:t>(EDA)</a:t>
            </a:r>
          </a:p>
        </p:txBody>
      </p:sp>
      <p:pic>
        <p:nvPicPr>
          <p:cNvPr id="3" name="Picture 2" descr="A diagram of a number of data&#10;&#10;AI-generated content may be incorrect.">
            <a:extLst>
              <a:ext uri="{FF2B5EF4-FFF2-40B4-BE49-F238E27FC236}">
                <a16:creationId xmlns:a16="http://schemas.microsoft.com/office/drawing/2014/main" id="{3035F78A-8AC4-B05E-B1B6-E3A892E9AC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6751" y="1588626"/>
            <a:ext cx="5738498" cy="5064965"/>
          </a:xfrm>
          <a:prstGeom prst="rect">
            <a:avLst/>
          </a:prstGeom>
        </p:spPr>
      </p:pic>
      <p:pic>
        <p:nvPicPr>
          <p:cNvPr id="9" name="Audio 8">
            <a:extLst>
              <a:ext uri="{FF2B5EF4-FFF2-40B4-BE49-F238E27FC236}">
                <a16:creationId xmlns:a16="http://schemas.microsoft.com/office/drawing/2014/main" id="{2F963759-A155-1644-2808-31DD42217FC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3567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752"/>
    </mc:Choice>
    <mc:Fallback>
      <p:transition spd="slow" advTm="11075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9BA5">
            <a:alpha val="75625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9DA627-1424-823D-F53A-CC1F81EE2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0B66B-AE29-2247-ED30-31EE54F18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04409"/>
            <a:ext cx="7729728" cy="1188720"/>
          </a:xfrm>
        </p:spPr>
        <p:txBody>
          <a:bodyPr/>
          <a:lstStyle/>
          <a:p>
            <a:r>
              <a:rPr lang="en-US" dirty="0"/>
              <a:t>Results and findings</a:t>
            </a:r>
            <a:br>
              <a:rPr lang="en-US" dirty="0"/>
            </a:br>
            <a:r>
              <a:rPr lang="en-US" dirty="0"/>
              <a:t>(logistic regression)</a:t>
            </a:r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A72FB75D-D613-54DC-5DEF-771764609F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256" y="2876548"/>
            <a:ext cx="5123679" cy="204477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92B0881-52C0-65DB-C321-F664FC077C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8067" y="2876548"/>
            <a:ext cx="5687754" cy="20447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6A7098-8338-3F9D-579D-D4E831AAC394}"/>
              </a:ext>
            </a:extLst>
          </p:cNvPr>
          <p:cNvSpPr txBox="1"/>
          <p:nvPr/>
        </p:nvSpPr>
        <p:spPr>
          <a:xfrm>
            <a:off x="7914658" y="2373330"/>
            <a:ext cx="2794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Class_weight</a:t>
            </a:r>
            <a:r>
              <a:rPr lang="en-US" dirty="0"/>
              <a:t> = ”balanced”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00018DA-8E10-7FC9-0C1B-46B569B037F0}"/>
              </a:ext>
            </a:extLst>
          </p:cNvPr>
          <p:cNvSpPr/>
          <p:nvPr/>
        </p:nvSpPr>
        <p:spPr>
          <a:xfrm>
            <a:off x="3229232" y="3509319"/>
            <a:ext cx="617838" cy="214184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52191E7-06A1-692A-54FC-C327239C042B}"/>
              </a:ext>
            </a:extLst>
          </p:cNvPr>
          <p:cNvSpPr/>
          <p:nvPr/>
        </p:nvSpPr>
        <p:spPr>
          <a:xfrm>
            <a:off x="9115167" y="3508679"/>
            <a:ext cx="617838" cy="214184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Audio 11">
            <a:extLst>
              <a:ext uri="{FF2B5EF4-FFF2-40B4-BE49-F238E27FC236}">
                <a16:creationId xmlns:a16="http://schemas.microsoft.com/office/drawing/2014/main" id="{379CF063-7351-462C-4915-68A02C1C4EB8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911512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970"/>
    </mc:Choice>
    <mc:Fallback>
      <p:transition spd="slow" advTm="699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  <p:bldLst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9BA5">
            <a:alpha val="75625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F97AB7-3F4D-532C-25F4-E33605B7C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5E161-ABD4-3323-032E-566D0AE9D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04409"/>
            <a:ext cx="7729728" cy="1188720"/>
          </a:xfrm>
        </p:spPr>
        <p:txBody>
          <a:bodyPr/>
          <a:lstStyle/>
          <a:p>
            <a:r>
              <a:rPr lang="en-US" dirty="0"/>
              <a:t>Results and findings</a:t>
            </a:r>
            <a:br>
              <a:rPr lang="en-US" dirty="0"/>
            </a:br>
            <a:r>
              <a:rPr lang="en-US" dirty="0"/>
              <a:t>(Trees)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1579B9-6CF1-FA37-C3F5-1F672E2DD6B8}"/>
              </a:ext>
            </a:extLst>
          </p:cNvPr>
          <p:cNvSpPr txBox="1"/>
          <p:nvPr/>
        </p:nvSpPr>
        <p:spPr>
          <a:xfrm>
            <a:off x="8310014" y="2168162"/>
            <a:ext cx="1608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Random Forest</a:t>
            </a:r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28DA4787-7867-73D1-549C-E149BDE033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568" y="2661332"/>
            <a:ext cx="5136551" cy="20499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C435AA2E-2B96-5122-5092-CD5C982B3E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5882" y="2661332"/>
            <a:ext cx="5136549" cy="204990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72A835-4A7E-9135-C3AC-925C5CFEB1BA}"/>
              </a:ext>
            </a:extLst>
          </p:cNvPr>
          <p:cNvSpPr txBox="1"/>
          <p:nvPr/>
        </p:nvSpPr>
        <p:spPr>
          <a:xfrm>
            <a:off x="2341663" y="2168162"/>
            <a:ext cx="1472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Decision Tree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7515BC5-6701-350B-D0F6-A44CE518AE1F}"/>
              </a:ext>
            </a:extLst>
          </p:cNvPr>
          <p:cNvSpPr/>
          <p:nvPr/>
        </p:nvSpPr>
        <p:spPr>
          <a:xfrm>
            <a:off x="3196185" y="3312527"/>
            <a:ext cx="617838" cy="214184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D43C6E6-521D-0301-842D-BC3AF1B941C9}"/>
              </a:ext>
            </a:extLst>
          </p:cNvPr>
          <p:cNvSpPr/>
          <p:nvPr/>
        </p:nvSpPr>
        <p:spPr>
          <a:xfrm>
            <a:off x="9130535" y="3289873"/>
            <a:ext cx="617838" cy="214184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85D9D16-BCBD-09EB-DF96-7879EC64EC27}"/>
              </a:ext>
            </a:extLst>
          </p:cNvPr>
          <p:cNvSpPr/>
          <p:nvPr/>
        </p:nvSpPr>
        <p:spPr>
          <a:xfrm>
            <a:off x="6622113" y="4423719"/>
            <a:ext cx="4400114" cy="28752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Audio 13">
            <a:extLst>
              <a:ext uri="{FF2B5EF4-FFF2-40B4-BE49-F238E27FC236}">
                <a16:creationId xmlns:a16="http://schemas.microsoft.com/office/drawing/2014/main" id="{0CC9516F-4D9A-2C82-C31E-EA77EAF2E56A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042425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5824"/>
    </mc:Choice>
    <mc:Fallback>
      <p:transition spd="slow" advTm="658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  <p:bldLst>
      <p:bldP spid="3" grpId="0" animBg="1"/>
      <p:bldP spid="4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9BA5">
            <a:alpha val="75625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A60BE1-060A-43BC-BBCE-075D119E5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70B8B-BEDF-2476-C416-721905D13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04409"/>
            <a:ext cx="7729728" cy="1188720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06D0155D-D849-43EA-74A0-A2052B7765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8576" y="2656114"/>
            <a:ext cx="5496245" cy="15457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C9A041-B62F-FE96-D18C-336972106001}"/>
              </a:ext>
            </a:extLst>
          </p:cNvPr>
          <p:cNvSpPr txBox="1"/>
          <p:nvPr/>
        </p:nvSpPr>
        <p:spPr>
          <a:xfrm>
            <a:off x="873211" y="2158314"/>
            <a:ext cx="450770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Retention strategies should include:</a:t>
            </a:r>
          </a:p>
          <a:p>
            <a:pPr lvl="0"/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Target month-to-month customers within the first year of account creation.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Prioritize retention campaigns for high monthly charge customers.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Deploy the Random Forest model as it can be used as a risk-ranking system rather than a strict classifier.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Adjust thresholds based on cost tolerance.</a:t>
            </a:r>
          </a:p>
          <a:p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F2B4C7C-6AFE-F603-622E-5DA3C192F2D7}"/>
              </a:ext>
            </a:extLst>
          </p:cNvPr>
          <p:cNvSpPr/>
          <p:nvPr/>
        </p:nvSpPr>
        <p:spPr>
          <a:xfrm>
            <a:off x="6409038" y="3888259"/>
            <a:ext cx="5329881" cy="255373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Audio 25">
            <a:extLst>
              <a:ext uri="{FF2B5EF4-FFF2-40B4-BE49-F238E27FC236}">
                <a16:creationId xmlns:a16="http://schemas.microsoft.com/office/drawing/2014/main" id="{44881D96-3FCE-3181-771B-1E6E4C58D627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909353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9370"/>
    </mc:Choice>
    <mc:Fallback>
      <p:transition spd="slow" advTm="793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</p:childTnLst>
        </p:cTn>
      </p:par>
    </p:tnLst>
    <p:bldLst>
      <p:bldP spid="5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7|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2|26|14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4"/>
</p:tagLst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8934</TotalTime>
  <Words>416</Words>
  <Application>Microsoft Macintosh PowerPoint</Application>
  <PresentationFormat>Widescreen</PresentationFormat>
  <Paragraphs>102</Paragraphs>
  <Slides>12</Slides>
  <Notes>12</Notes>
  <HiddenSlides>0</HiddenSlides>
  <MMClips>12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Gill Sans MT</vt:lpstr>
      <vt:lpstr>Parcel</vt:lpstr>
      <vt:lpstr>Custom Design</vt:lpstr>
      <vt:lpstr>Identifying and improving telco customer churn</vt:lpstr>
      <vt:lpstr>Agenda</vt:lpstr>
      <vt:lpstr>introduction</vt:lpstr>
      <vt:lpstr>Goal</vt:lpstr>
      <vt:lpstr>Data overview</vt:lpstr>
      <vt:lpstr>Methods of analysis (Data Cleaning)</vt:lpstr>
      <vt:lpstr>Methods of analysis (EDA)</vt:lpstr>
      <vt:lpstr>Methods of analysis (EDA)</vt:lpstr>
      <vt:lpstr>Methods of analysis (EDA)</vt:lpstr>
      <vt:lpstr>Results and findings (logistic regression)</vt:lpstr>
      <vt:lpstr>Results and findings (Trees)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 L</dc:creator>
  <cp:lastModifiedBy>Leo L</cp:lastModifiedBy>
  <cp:revision>5</cp:revision>
  <dcterms:created xsi:type="dcterms:W3CDTF">2026-03-01T17:01:52Z</dcterms:created>
  <dcterms:modified xsi:type="dcterms:W3CDTF">2026-03-08T17:16:44Z</dcterms:modified>
</cp:coreProperties>
</file>